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65A82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65A82"/>
                </a:solidFill>
                <a:latin typeface="Calibri"/>
              </a:rPr>
              <a:t>Mean approach-position error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Position error (m)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7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Naive</c:v>
                  </c:pt>
                  <c:pt idx="1">
                    <c:v>Rule-based</c:v>
                  </c:pt>
                  <c:pt idx="2">
                    <c:v>RF untuned</c:v>
                  </c:pt>
                  <c:pt idx="3">
                    <c:v>MLP untuned</c:v>
                  </c:pt>
                  <c:pt idx="4">
                    <c:v>RF tuned</c:v>
                  </c:pt>
                  <c:pt idx="5">
                    <c:v>MLP tuned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0.41</c:v>
                </c:pt>
                <c:pt idx="1">
                  <c:v>0.305</c:v>
                </c:pt>
                <c:pt idx="2">
                  <c:v>0.401</c:v>
                </c:pt>
                <c:pt idx="3">
                  <c:v>0.465</c:v>
                </c:pt>
                <c:pt idx="4">
                  <c:v>0.365</c:v>
                </c:pt>
                <c:pt idx="5">
                  <c:v>0.395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7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0"/>
        <c:axPos val="l"/>
        <c:majorGridlines>
          <c:spPr>
            <a:ln w="12700" cap="flat">
              <a:solidFill>
                <a:srgbClr val="E8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65A82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65A82"/>
                </a:solidFill>
                <a:latin typeface="Calibri"/>
              </a:rPr>
              <a:t>Mean approach-orientation error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Orientation error (deg)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7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Naive</c:v>
                  </c:pt>
                  <c:pt idx="1">
                    <c:v>Rule-based</c:v>
                  </c:pt>
                  <c:pt idx="2">
                    <c:v>RF untuned</c:v>
                  </c:pt>
                  <c:pt idx="3">
                    <c:v>MLP untuned</c:v>
                  </c:pt>
                  <c:pt idx="4">
                    <c:v>RF tuned</c:v>
                  </c:pt>
                  <c:pt idx="5">
                    <c:v>MLP tuned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29</c:v>
                </c:pt>
                <c:pt idx="1">
                  <c:v>29.1</c:v>
                </c:pt>
                <c:pt idx="2">
                  <c:v>29.3</c:v>
                </c:pt>
                <c:pt idx="3">
                  <c:v>42.2</c:v>
                </c:pt>
                <c:pt idx="4">
                  <c:v>25.8</c:v>
                </c:pt>
                <c:pt idx="5">
                  <c:v>31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7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12700" cap="flat">
              <a:solidFill>
                <a:srgbClr val="E8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Project: can a robot learn socially appropriate group-approach behaviour by imitating ordinary people, rather than having social rules hand-coded?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contribution is testing whether non-expert demonstrations encode social norms implicitly, without anyone programming F-formation theory.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empty gaze file and the missing depth are the two facts that constrained every downstream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policies consume the same /group_centroid and emit the same goal type, so the only variable between experimental runs is the policy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detectors are pretrained and used for inference only — neither is trained in this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three steps had to work around a real data limitation, and each limitation is stated rather than hidden.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Neither detector is trained. The only trained models in this project are the Random Forest and the MLP.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split result and must be reported as one. Neither approach is a clean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did not work is the interesting discussion, and it is grounded in measured constraints rather than speculation.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Environment: ROS 2 Humble, Gazebo Classic 11, Nav2, custom restaurant world with 15 animated LIRS-HMLG 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closing position: the technical pipeline is complete; the simulation experiments and the write-up are what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065A82">
              <a:alpha val="4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1C7293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344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8F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ROBOTICS DISSERTATION  ·  UNIVERSITY OF LINCOLN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Socially Appropriate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Group-Approach Behaviour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TIAGo Robot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A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Non-Expert Human Demonstrations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800600"/>
            <a:ext cx="1371600" cy="3200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07492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Cloning  ·  F-formation &amp; O-space  ·  ROS 2 + Nav2  ·  Gazebo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53212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Saaru Nathan   |   Submission 30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Robots treat people as obstacles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navigation stacks avoid collisions — nothing more. A robot that stops in the middle of a conversation is technically safe and socially wrong.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3774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theory exists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65176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F-formations and O-space describe how people arrange themselves in conversation.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419856"/>
            <a:ext cx="402336" cy="40233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198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34015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hand-coded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367588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write the social rules explicitly, robot by robot, room by room.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443984"/>
            <a:ext cx="402336" cy="402336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443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442569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asks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4700016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behaviour be LEARNED from ordinary people instead?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0" y="1371600"/>
            <a:ext cx="4754880" cy="4206240"/>
          </a:xfrm>
          <a:prstGeom prst="roundRect">
            <a:avLst>
              <a:gd name="adj" fmla="val 1739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1691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QUESTION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21031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demonstrations from non-expert operators contain enough social knowledge for a robot to learn where to stand near a conversational group — and does that beat a simple geometric rule?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78040" y="41148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a rule-based baseline on the proposal's own thresholds: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0.4 m position   ·   &lt; 20° orientation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PLUS-HRI: 24 teleoperation sessions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002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sessions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non-expert operators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08960" y="13258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229,678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108960" y="2002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synchronised rows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state + LiDAR +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0" y="13258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24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669280" y="2002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with human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annotations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3258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229600" y="20025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with usable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 / orientation 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11064240" cy="2926080"/>
          </a:xfrm>
          <a:prstGeom prst="roundRect">
            <a:avLst>
              <a:gd name="adj" fmla="val 2500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0358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dataset actually contains — verified by direct inspection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60120" y="3547872"/>
            <a:ext cx="91440" cy="914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345643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session: a human drove a real TIAGo by joystick near groups of people. Logged at ~40 Hz — LiDAR, odometry, and the operator's exact velocity commands (the answer key for imitation learning).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60120" y="4078224"/>
            <a:ext cx="91440" cy="914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7008" y="398678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sessions 1 and 3 carry face annotations. The other 22 were recorded with a later pipeline and have no human-position ground truth at all — so a detector had to supply it.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60120" y="4608576"/>
            <a:ext cx="91440" cy="914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07008" y="451713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gaze_uniface.csv is 100% empty across every column. There is no per-person orientation anywhere in the dataset, which rules out textbook F-formation detection.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60120" y="5138928"/>
            <a:ext cx="91440" cy="914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7008" y="504748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depth, no camera calibration — all perception output is in image pixels, not metres. This single constraint shaped the entire methodology.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048256" cy="1691640"/>
          </a:xfrm>
          <a:prstGeom prst="roundRect">
            <a:avLst>
              <a:gd name="adj" fmla="val 4324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45920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LocateAnything-3B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15184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34640" y="1417320"/>
            <a:ext cx="2048256" cy="1691640"/>
          </a:xfrm>
          <a:prstGeom prst="roundRect">
            <a:avLst>
              <a:gd name="adj" fmla="val 4324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90672" y="1645920"/>
            <a:ext cx="329184" cy="32918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90672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90672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O-space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01184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20640" y="1417320"/>
            <a:ext cx="2048256" cy="1691640"/>
          </a:xfrm>
          <a:prstGeom prst="roundRect">
            <a:avLst>
              <a:gd name="adj" fmla="val 4324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76672" y="1645920"/>
            <a:ext cx="329184" cy="329184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76672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76672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76672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learned BC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87184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406640" y="1417320"/>
            <a:ext cx="2048256" cy="1691640"/>
          </a:xfrm>
          <a:prstGeom prst="roundRect">
            <a:avLst>
              <a:gd name="adj" fmla="val 4324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62672" y="1645920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62672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662672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662672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+ drive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73184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692640" y="1417320"/>
            <a:ext cx="2048256" cy="1691640"/>
          </a:xfrm>
          <a:prstGeom prst="roundRect">
            <a:avLst>
              <a:gd name="adj" fmla="val 4324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948672" y="1645920"/>
            <a:ext cx="329184" cy="32918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8672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948672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948672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proposal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34290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 ·  learning from recorded data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68680" y="4005072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1 bags → synchronised training table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run over all 24 session videos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clustered into groups, O-space estimated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events inferred → Behavioural Cloning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172200" y="34290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·  ROS 2 nodes in simulation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92240" y="4005072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group_perception_node — RGB+depth → metres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group_approach_baseline_node — geometric rule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bc_policy_node — trained model → Nav2 goal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metrics_recorder_node — scores every run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 ·  PERCEPTION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detectors, measured head-to-head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named LocateAnything-3B. YOLOv8n was adopted instead — but only after measuring both on the same ground-truth frames, so the substitution rests on evidence rather than convenience.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68580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LocateAnything-3B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(30 GT frames)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  (29/30)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 (30/30)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(full sessions 1 &amp;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 at scale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~0.005 s / frame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25.63 s / frame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VRAM required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~7.7 GB  (only 4.3 available)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2103120"/>
            <a:ext cx="3931920" cy="3520440"/>
          </a:xfrm>
          <a:prstGeom prst="roundRect">
            <a:avLst>
              <a:gd name="adj" fmla="val 2078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001000" y="274320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recall gap is ONE frame. Wilson 95% intervals overlap heavily (88.6–100% vs 83.3–99.4%) — not a statistically meaningful difference.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 gap is ~5000× and is unambiguous.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clear the ≥80% target comfortably.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YOLOv8n for the live loop; LocateAnything-3B retained as a selectable backend for one-shot use.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3 &amp; 4  · 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people to groups to demonstrations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703320"/>
          </a:xfrm>
          <a:prstGeom prst="roundRect">
            <a:avLst>
              <a:gd name="adj" fmla="val 205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457200" cy="4572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detection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Connected-components clustering per frame. Offline, pixel distance is normalised by bounding-box width as a perspective proxy; in simulation, true metric distance replaces it.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4526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5,212 groups across 24 sessions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66160" cy="3703320"/>
          </a:xfrm>
          <a:prstGeom prst="roundRect">
            <a:avLst>
              <a:gd name="adj" fmla="val 205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691640"/>
            <a:ext cx="457200" cy="45720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8745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O-space estimation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22860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F-formation needs per-person orientation — which this dataset does not have. Adopted the mutual-facing assumption: the O-space centre is the group centroid.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617720" y="4526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simplification, not a gap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71600"/>
            <a:ext cx="3566160" cy="3703320"/>
          </a:xfrm>
          <a:prstGeom prst="roundRect">
            <a:avLst>
              <a:gd name="adj" fmla="val 205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1691640"/>
            <a:ext cx="457200" cy="4572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8745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Approach-pose labelling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66760" y="22860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never says 'this is an approach'. Events were inferred from moving→stop transitions near a detected group, with the stop pose as the demonstrated label.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66760" y="4526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462 events → 70,555 labelled rows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CLONING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actually trained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·  7 features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lidar_min_range · lidar_mean_range · linear_x_prev · angular_z_prev · num_people · group_bearing_rad · group_scale_norm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·  approach pose, RELATIVE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19385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target_dx · target_dy · target_dyaw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22860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Expressed in the robot's own frame, not map coordinates. Absolute (x, y) was measured to hurt generalisation — it does not transfer between rooms.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52044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architectures, tuned by grid search on the validation split only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13632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2926080"/>
                <a:gridCol w="3840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 spec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Grid-search winner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that tells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documented alternative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max_depth=8, min_samples_leaf=20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Shallower won → the model was overfitting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(primary)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layers, 128/64 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hidden=(32,16), alpha=0.1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 smaller than specified → architecture was too large for 462 events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5349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Session-level train/val/test split (17 / 4 / 3) — the test sessions were never touched until final evaluation.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HELD-OUT TEST SESSIONS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4: does learning beat the rule?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6692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371600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297680"/>
            <a:ext cx="5669280" cy="1325880"/>
          </a:xfrm>
          <a:prstGeom prst="roundRect">
            <a:avLst>
              <a:gd name="adj" fmla="val 5517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68680" y="4480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the RULE wins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68680" y="47731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0.305 m vs 0.365 m for the best learned model. Both clear the &lt; 0.4 m threshold, but the hand-coded geometry is simply better at choosing where to stop.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309360" y="429768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629400" y="4480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Orientation: the LEARNED model wins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629400" y="47731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25.8° vs 29.1° — the tuned Random Forest beats every other policy, including the rule. But nothing reaches the &lt; 20° threshold.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206240" cy="4206240"/>
          </a:xfrm>
          <a:prstGeom prst="ellipse">
            <a:avLst/>
          </a:prstGeom>
          <a:solidFill>
            <a:srgbClr val="065A82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058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8F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508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Behavioural Cloning learned group orientation better than a geometric rule, but did not learn stopping position better — and neither achieved socially acceptable orientation accuracy on this dataset.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legitimate, defensible result — not a failed project. The methodology is sound: session-level splits with no leakage, a real baseline, and thresholds fixed in advance.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34340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065A82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51560" y="49377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demonstration events — far less information than 70,555 rows suggests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6160" y="434340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065A82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9476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Inferred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794760" y="49377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labels, not annotated ground truth for 'this is an approach'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434340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065A82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depth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37960" y="49377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calibration — perception constrained to pixels throughout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052560" y="434340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065A82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orientation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281160" y="49377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anywhere, so true F-formation detection was impossible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 ·  GAZEBO  ·  NAV2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Simulation: where the rest becomes measurable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recorded video has no depth, so 6 of the 8 proposal metrics were impossible to compute. In simulation TIAGo publishes a real depth image — group positions become metric, and the metrics become measurable.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40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OFFLINE  ·  2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Approach-position error   — done, 0.305–0.465 m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Approach-orientation error — done, 25.8–42.2°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SIMULATION  ·  6 metrics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88620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O-space intrusion rate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distance to group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cut-through rate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Collision-free rate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 rate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length and navigation time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240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37960" y="26060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world. Same start pose. Same groups.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variable: the policy.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3337560"/>
            <a:ext cx="4754880" cy="475488"/>
          </a:xfrm>
          <a:prstGeom prst="roundRect">
            <a:avLst>
              <a:gd name="adj" fmla="val 11538"/>
            </a:avLst>
          </a:prstGeom>
          <a:solidFill>
            <a:srgbClr val="E4ED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340156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ros2 launch tiago_group_approach group_approach.launch.py policy:=rule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537960" y="3931920"/>
            <a:ext cx="4754880" cy="475488"/>
          </a:xfrm>
          <a:prstGeom prst="roundRect">
            <a:avLst>
              <a:gd name="adj" fmla="val 11538"/>
            </a:avLst>
          </a:prstGeom>
          <a:solidFill>
            <a:srgbClr val="E4ED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0" y="3995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ros2 launch tiago_group_approach group_approach.launch.py policy:=bc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37960" y="4572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are scored against the world's TRUE person positions, not the robot's detections — otherwise a robot that fails to see a group would score perfectly for not intruding on it.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3291840"/>
            <a:ext cx="4572000" cy="45720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686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8F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PROJECT STANDS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Complete, and what remains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7FD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extraction across all 24 sessions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279806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detection — 99.7% recall vs an 80% target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3200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comparison — YOLOv8n vs LocateAnything-3B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3602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36027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clustering and O-space estimation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005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" y="4005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Approach-pose dataset — 462 events, 70,555 rows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3000" y="44074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trained, grid-searched and evaluated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3000" y="4809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ROS 2 pipeline built — perception, policies, metrics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23957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simulation experiments end-to-end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20840" y="2798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frames to close Objective 3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0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20840" y="32004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literature review from 7 to ~18–20 sources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0" y="3602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20840" y="36027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methodology, results and discussion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577840"/>
            <a:ext cx="1371600" cy="3200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8064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Saaru Nathan  ·  University of Lincoln  ·  Submission 30 August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Socially Appropriate Group-Approach Behaviour for a TIAGo Robot</dc:title>
  <dc:subject>PptxGenJS Presentation</dc:subject>
  <dc:creator>Saaru Nathan</dc:creator>
  <cp:lastModifiedBy>Saaru Nathan</cp:lastModifiedBy>
  <cp:revision>1</cp:revision>
  <dcterms:created xsi:type="dcterms:W3CDTF">2026-08-14T02:47:08Z</dcterms:created>
  <dcterms:modified xsi:type="dcterms:W3CDTF">2026-08-14T02:47:08Z</dcterms:modified>
</cp:coreProperties>
</file>